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2" r:id="rId3"/>
    <p:sldId id="257" r:id="rId4"/>
    <p:sldId id="258" r:id="rId5"/>
    <p:sldId id="273" r:id="rId6"/>
    <p:sldId id="259" r:id="rId7"/>
    <p:sldId id="260" r:id="rId8"/>
    <p:sldId id="261" r:id="rId9"/>
    <p:sldId id="276" r:id="rId10"/>
    <p:sldId id="274" r:id="rId11"/>
    <p:sldId id="275" r:id="rId12"/>
    <p:sldId id="262" r:id="rId13"/>
    <p:sldId id="277" r:id="rId14"/>
    <p:sldId id="263" r:id="rId15"/>
    <p:sldId id="264" r:id="rId16"/>
    <p:sldId id="2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21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84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515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016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4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78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60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903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99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712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18C5A-B26D-451D-BBAC-91690EA95A9A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825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0458" y="2436270"/>
            <a:ext cx="9371084" cy="590417"/>
          </a:xfrm>
        </p:spPr>
        <p:txBody>
          <a:bodyPr>
            <a:normAutofit fontScale="90000"/>
          </a:bodyPr>
          <a:lstStyle/>
          <a:p>
            <a:pPr>
              <a:lnSpc>
                <a:spcPts val="5500"/>
              </a:lnSpc>
            </a:pPr>
            <a:r>
              <a:rPr lang="en-US" sz="3600" dirty="0" err="1">
                <a:solidFill>
                  <a:srgbClr val="0000FF"/>
                </a:solidFill>
                <a:ea typeface="+mn-ea"/>
                <a:cs typeface="Times New Roman" panose="02020603050405020304" pitchFamily="18" charset="0"/>
              </a:rPr>
              <a:t>Skylytics</a:t>
            </a:r>
            <a:r>
              <a:rPr lang="en-US" sz="3600" dirty="0">
                <a:solidFill>
                  <a:srgbClr val="0000FF"/>
                </a:solidFill>
                <a:ea typeface="+mn-ea"/>
                <a:cs typeface="Times New Roman" panose="02020603050405020304" pitchFamily="18" charset="0"/>
              </a:rPr>
              <a:t> – An AI Powered Flight Delay 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49364"/>
            <a:ext cx="9144000" cy="455612"/>
          </a:xfrm>
        </p:spPr>
        <p:txBody>
          <a:bodyPr>
            <a:normAutofit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FYP Proposal Defense – (</a:t>
            </a:r>
            <a:r>
              <a:rPr lang="en-US" b="1" dirty="0">
                <a:cs typeface="Times New Roman" panose="02020603050405020304" pitchFamily="18" charset="0"/>
              </a:rPr>
              <a:t>BSCS-F25-026)</a:t>
            </a:r>
            <a:endParaRPr lang="en-US" dirty="0">
              <a:cs typeface="Times New Roman" panose="02020603050405020304" pitchFamily="18" charset="0"/>
            </a:endParaRPr>
          </a:p>
          <a:p>
            <a:endParaRPr lang="en-US" dirty="0">
              <a:cs typeface="Times New Roman" panose="02020603050405020304" pitchFamily="18" charset="0"/>
            </a:endParaRPr>
          </a:p>
          <a:p>
            <a:endParaRPr lang="en-US" dirty="0"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30AA0C3-A6DA-98B0-47BD-D4E504185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012766"/>
              </p:ext>
            </p:extLst>
          </p:nvPr>
        </p:nvGraphicFramePr>
        <p:xfrm>
          <a:off x="3769894" y="4142332"/>
          <a:ext cx="4652210" cy="1099803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326105">
                  <a:extLst>
                    <a:ext uri="{9D8B030D-6E8A-4147-A177-3AD203B41FA5}">
                      <a16:colId xmlns:a16="http://schemas.microsoft.com/office/drawing/2014/main" val="1366382774"/>
                    </a:ext>
                  </a:extLst>
                </a:gridCol>
                <a:gridCol w="2326105">
                  <a:extLst>
                    <a:ext uri="{9D8B030D-6E8A-4147-A177-3AD203B41FA5}">
                      <a16:colId xmlns:a16="http://schemas.microsoft.com/office/drawing/2014/main" val="1683129243"/>
                    </a:ext>
                  </a:extLst>
                </a:gridCol>
              </a:tblGrid>
              <a:tr h="366601">
                <a:tc>
                  <a:txBody>
                    <a:bodyPr/>
                    <a:lstStyle/>
                    <a:p>
                      <a:pPr marL="0" marR="0" indent="0" algn="r" rtl="0" eaLnBrk="1" fontAlgn="auto" latinLnBrk="0" hangingPunct="1">
                        <a:buNone/>
                      </a:pPr>
                      <a:r>
                        <a:rPr lang="en-US" sz="1800" b="0" u="none" strike="noStrike" kern="1200" baseline="0" dirty="0">
                          <a:solidFill>
                            <a:srgbClr val="0000FF"/>
                          </a:solidFill>
                          <a:effectLst/>
                        </a:rPr>
                        <a:t>03-134222-003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rgbClr val="0000FF"/>
                          </a:solidFill>
                          <a:effectLst/>
                        </a:rPr>
                        <a:t>Abdul Mutlib Ali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1998"/>
                  </a:ext>
                </a:extLst>
              </a:tr>
              <a:tr h="366601">
                <a:tc>
                  <a:txBody>
                    <a:bodyPr/>
                    <a:lstStyle/>
                    <a:p>
                      <a:pPr marL="0" marR="0" indent="0" algn="r" rtl="0" eaLnBrk="1" fontAlgn="auto" latinLnBrk="0" hangingPunct="1">
                        <a:buNone/>
                      </a:pPr>
                      <a:r>
                        <a:rPr lang="en-US" sz="1800" b="0" u="none" strike="noStrike" kern="1200" baseline="0" dirty="0">
                          <a:solidFill>
                            <a:srgbClr val="0000FF"/>
                          </a:solidFill>
                          <a:effectLst/>
                        </a:rPr>
                        <a:t>03-134222-007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rgbClr val="0000FF"/>
                          </a:solidFill>
                          <a:effectLst/>
                        </a:rPr>
                        <a:t>Abuzar Rashid 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76682"/>
                  </a:ext>
                </a:extLst>
              </a:tr>
              <a:tr h="366601">
                <a:tc>
                  <a:txBody>
                    <a:bodyPr/>
                    <a:lstStyle/>
                    <a:p>
                      <a:pPr marL="0" marR="0" indent="0" algn="r" rtl="0" eaLnBrk="1" fontAlgn="auto" latinLnBrk="0" hangingPunct="1">
                        <a:buNone/>
                      </a:pPr>
                      <a:r>
                        <a:rPr lang="en-US" sz="1800" b="0" u="none" strike="noStrike" kern="1200" baseline="0" dirty="0">
                          <a:solidFill>
                            <a:srgbClr val="0000FF"/>
                          </a:solidFill>
                          <a:effectLst/>
                        </a:rPr>
                        <a:t>03-134222-039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rgbClr val="0000FF"/>
                          </a:solidFill>
                          <a:effectLst/>
                        </a:rPr>
                        <a:t>Kumail Ahmed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7422441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BAEFC9F-4367-BFC6-7AD3-F72AECB0BBD5}"/>
              </a:ext>
            </a:extLst>
          </p:cNvPr>
          <p:cNvSpPr txBox="1">
            <a:spLocks/>
          </p:cNvSpPr>
          <p:nvPr/>
        </p:nvSpPr>
        <p:spPr>
          <a:xfrm>
            <a:off x="1840831" y="5542859"/>
            <a:ext cx="8510337" cy="455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cs typeface="Times New Roman" panose="02020603050405020304" pitchFamily="18" charset="0"/>
              </a:rPr>
              <a:t>Supervisor:  Dr. Nadeem Sarwar</a:t>
            </a:r>
          </a:p>
        </p:txBody>
      </p:sp>
      <p:pic>
        <p:nvPicPr>
          <p:cNvPr id="10" name="Picture 9" descr="A anchor with a rope&#10;&#10;AI-generated content may be incorrect.">
            <a:extLst>
              <a:ext uri="{FF2B5EF4-FFF2-40B4-BE49-F238E27FC236}">
                <a16:creationId xmlns:a16="http://schemas.microsoft.com/office/drawing/2014/main" id="{372F0734-663E-1207-977D-E720F61D77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198914" cy="219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949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A01E4-CF76-4715-1EF5-5F2C24E46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 Mapping 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CF272B04-F41D-4293-EF35-D160427567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6422674"/>
              </p:ext>
            </p:extLst>
          </p:nvPr>
        </p:nvGraphicFramePr>
        <p:xfrm>
          <a:off x="924791" y="1443789"/>
          <a:ext cx="10303190" cy="49644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4753">
                  <a:extLst>
                    <a:ext uri="{9D8B030D-6E8A-4147-A177-3AD203B41FA5}">
                      <a16:colId xmlns:a16="http://schemas.microsoft.com/office/drawing/2014/main" val="1414600277"/>
                    </a:ext>
                  </a:extLst>
                </a:gridCol>
                <a:gridCol w="3081772">
                  <a:extLst>
                    <a:ext uri="{9D8B030D-6E8A-4147-A177-3AD203B41FA5}">
                      <a16:colId xmlns:a16="http://schemas.microsoft.com/office/drawing/2014/main" val="1395363239"/>
                    </a:ext>
                  </a:extLst>
                </a:gridCol>
                <a:gridCol w="3081772">
                  <a:extLst>
                    <a:ext uri="{9D8B030D-6E8A-4147-A177-3AD203B41FA5}">
                      <a16:colId xmlns:a16="http://schemas.microsoft.com/office/drawing/2014/main" val="513562264"/>
                    </a:ext>
                  </a:extLst>
                </a:gridCol>
                <a:gridCol w="3664893">
                  <a:extLst>
                    <a:ext uri="{9D8B030D-6E8A-4147-A177-3AD203B41FA5}">
                      <a16:colId xmlns:a16="http://schemas.microsoft.com/office/drawing/2014/main" val="2900353962"/>
                    </a:ext>
                  </a:extLst>
                </a:gridCol>
              </a:tblGrid>
              <a:tr h="35044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highlight>
                            <a:srgbClr val="5B9BD5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CLO</a:t>
                      </a:r>
                      <a:endParaRPr lang="en-US" sz="1400" kern="100" dirty="0">
                        <a:effectLst/>
                        <a:highlight>
                          <a:srgbClr val="5B9BD5"/>
                        </a:highlight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highlight>
                            <a:srgbClr val="5B9BD5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PLO</a:t>
                      </a:r>
                      <a:endParaRPr lang="en-US" sz="1400" kern="100" dirty="0">
                        <a:effectLst/>
                        <a:highlight>
                          <a:srgbClr val="5B9BD5"/>
                        </a:highlight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highlight>
                            <a:srgbClr val="5B9BD5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400" kern="100" dirty="0">
                        <a:effectLst/>
                        <a:highlight>
                          <a:srgbClr val="5B9BD5"/>
                        </a:highlight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highlight>
                            <a:srgbClr val="5B9BD5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Specified Aspects</a:t>
                      </a:r>
                      <a:endParaRPr lang="en-US" sz="1400" kern="100">
                        <a:effectLst/>
                        <a:highlight>
                          <a:srgbClr val="5B9BD5"/>
                        </a:highlight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extLst>
                  <a:ext uri="{0D108BD9-81ED-4DB2-BD59-A6C34878D82A}">
                    <a16:rowId xmlns:a16="http://schemas.microsoft.com/office/drawing/2014/main" val="596387057"/>
                  </a:ext>
                </a:extLst>
              </a:tr>
              <a:tr h="64753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highlight>
                            <a:srgbClr val="5B9BD5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CLO1</a:t>
                      </a:r>
                      <a:endParaRPr lang="en-US" sz="1400" kern="100">
                        <a:effectLst/>
                        <a:highlight>
                          <a:srgbClr val="5B9BD5"/>
                        </a:highlight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highlight>
                            <a:srgbClr val="D2DEEF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PLO3:Problem Analysis</a:t>
                      </a:r>
                      <a:endParaRPr lang="en-US" sz="1400" kern="100" dirty="0">
                        <a:effectLst/>
                        <a:highlight>
                          <a:srgbClr val="D2DEEF"/>
                        </a:highlight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highlight>
                            <a:srgbClr val="D2DEEF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Analyze the given problem to propose a computing-based solution.</a:t>
                      </a:r>
                      <a:endParaRPr lang="en-US" sz="1400" kern="100" dirty="0">
                        <a:effectLst/>
                        <a:highlight>
                          <a:srgbClr val="D2DEEF"/>
                        </a:highlight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highlight>
                            <a:srgbClr val="D2DEEF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Identified persistent flight delays, analyzed causes (weather, congestion, crew, aircraft), proposed AI-powered predictive system</a:t>
                      </a:r>
                      <a:endParaRPr lang="en-US" sz="1400" kern="100" dirty="0">
                        <a:effectLst/>
                        <a:highlight>
                          <a:srgbClr val="D2DEEF"/>
                        </a:highlight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extLst>
                  <a:ext uri="{0D108BD9-81ED-4DB2-BD59-A6C34878D82A}">
                    <a16:rowId xmlns:a16="http://schemas.microsoft.com/office/drawing/2014/main" val="3319985262"/>
                  </a:ext>
                </a:extLst>
              </a:tr>
              <a:tr h="73287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highlight>
                            <a:srgbClr val="5B9BD5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CLO2</a:t>
                      </a:r>
                      <a:endParaRPr lang="en-US" sz="1400" kern="100">
                        <a:effectLst/>
                        <a:highlight>
                          <a:srgbClr val="5B9BD5"/>
                        </a:highlight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highlight>
                            <a:srgbClr val="EAEFF7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PLO4:Design and Development of Solutions</a:t>
                      </a:r>
                      <a:endParaRPr lang="en-US" sz="1400" kern="100" dirty="0">
                        <a:effectLst/>
                        <a:highlight>
                          <a:srgbClr val="EAEFF7"/>
                        </a:highlight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highlight>
                            <a:srgbClr val="EAEFF7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Design and develop computing solutions to complex computing problems.</a:t>
                      </a:r>
                      <a:endParaRPr lang="en-US" sz="1400" kern="100" dirty="0">
                        <a:effectLst/>
                        <a:highlight>
                          <a:srgbClr val="EAEFF7"/>
                        </a:highlight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lang="en-US" sz="1400" dirty="0">
                          <a:highlight>
                            <a:srgbClr val="EAEFF7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Designed hybrid ML + DL models (</a:t>
                      </a:r>
                      <a:r>
                        <a:rPr lang="en-US" sz="1400" dirty="0" err="1">
                          <a:highlight>
                            <a:srgbClr val="EAEFF7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US" sz="1400" dirty="0">
                          <a:highlight>
                            <a:srgbClr val="EAEFF7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 + LSTM/Transformer) with explainable AI for flight delay prediction</a:t>
                      </a:r>
                      <a:endParaRPr lang="en-US" sz="1400" kern="100" dirty="0">
                        <a:effectLst/>
                        <a:highlight>
                          <a:srgbClr val="EAEFF7"/>
                        </a:highlight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ctr"/>
                </a:tc>
                <a:extLst>
                  <a:ext uri="{0D108BD9-81ED-4DB2-BD59-A6C34878D82A}">
                    <a16:rowId xmlns:a16="http://schemas.microsoft.com/office/drawing/2014/main" val="1096405850"/>
                  </a:ext>
                </a:extLst>
              </a:tr>
              <a:tr h="64753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highlight>
                            <a:srgbClr val="5B9BD5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CLO3</a:t>
                      </a:r>
                      <a:endParaRPr lang="en-US" sz="1400" kern="100">
                        <a:effectLst/>
                        <a:highlight>
                          <a:srgbClr val="5B9BD5"/>
                        </a:highlight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highlight>
                            <a:srgbClr val="D2DEEF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PLO5:Modern Tool Usage</a:t>
                      </a:r>
                      <a:endParaRPr lang="en-US" sz="1400" kern="100" dirty="0">
                        <a:effectLst/>
                        <a:highlight>
                          <a:srgbClr val="D2DEEF"/>
                        </a:highlight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highlight>
                            <a:srgbClr val="D2DEEF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Demonstrate the ability to use modern tools to solve the given problem.</a:t>
                      </a:r>
                      <a:endParaRPr lang="en-US" sz="1400" kern="100" dirty="0">
                        <a:effectLst/>
                        <a:highlight>
                          <a:srgbClr val="D2DEEF"/>
                        </a:highlight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highlight>
                            <a:srgbClr val="D2DEEF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Used Python ML libraries, </a:t>
                      </a:r>
                      <a:r>
                        <a:rPr lang="en-US" sz="1400" dirty="0" err="1">
                          <a:highlight>
                            <a:srgbClr val="D2DEEF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FastAPI</a:t>
                      </a:r>
                      <a:r>
                        <a:rPr lang="en-US" sz="1400" dirty="0">
                          <a:highlight>
                            <a:srgbClr val="D2DEEF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, Docker, Next.js, Tailwind, SwiftUI, PostgreSQL, Redis, AWS cloud deployment</a:t>
                      </a:r>
                      <a:endParaRPr lang="en-US" sz="1400" kern="100" dirty="0">
                        <a:effectLst/>
                        <a:highlight>
                          <a:srgbClr val="D2DEEF"/>
                        </a:highlight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extLst>
                  <a:ext uri="{0D108BD9-81ED-4DB2-BD59-A6C34878D82A}">
                    <a16:rowId xmlns:a16="http://schemas.microsoft.com/office/drawing/2014/main" val="4151319833"/>
                  </a:ext>
                </a:extLst>
              </a:tr>
              <a:tr h="64753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highlight>
                            <a:srgbClr val="5B9BD5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CLO4</a:t>
                      </a:r>
                      <a:endParaRPr lang="en-US" sz="1400" kern="100">
                        <a:effectLst/>
                        <a:highlight>
                          <a:srgbClr val="5B9BD5"/>
                        </a:highlight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highlight>
                            <a:srgbClr val="EAEFF7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PLO6:Individual and Team Work</a:t>
                      </a:r>
                      <a:endParaRPr lang="en-US" sz="1400" kern="100" dirty="0">
                        <a:effectLst/>
                        <a:highlight>
                          <a:srgbClr val="EAEFF7"/>
                        </a:highlight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highlight>
                            <a:srgbClr val="EAEFF7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Demonstrate the ability to work effectively as an individual and a team member.</a:t>
                      </a:r>
                      <a:endParaRPr lang="en-US" sz="1400" kern="100" dirty="0">
                        <a:effectLst/>
                        <a:highlight>
                          <a:srgbClr val="EAEFF7"/>
                        </a:highlight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highlight>
                            <a:srgbClr val="EAEFF7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Collaborated as team of three, divided tasks into ML, backend, frontend, ensured integration and testing</a:t>
                      </a:r>
                      <a:endParaRPr lang="en-US" sz="1400" kern="100" dirty="0">
                        <a:effectLst/>
                        <a:highlight>
                          <a:srgbClr val="EAEFF7"/>
                        </a:highlight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extLst>
                  <a:ext uri="{0D108BD9-81ED-4DB2-BD59-A6C34878D82A}">
                    <a16:rowId xmlns:a16="http://schemas.microsoft.com/office/drawing/2014/main" val="1188056806"/>
                  </a:ext>
                </a:extLst>
              </a:tr>
              <a:tr h="92863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highlight>
                            <a:srgbClr val="5B9BD5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CLO5</a:t>
                      </a:r>
                      <a:endParaRPr lang="en-US" sz="1400" kern="100">
                        <a:effectLst/>
                        <a:highlight>
                          <a:srgbClr val="5B9BD5"/>
                        </a:highlight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highlight>
                            <a:srgbClr val="D2DEEF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PLO10:Life Long Learning</a:t>
                      </a:r>
                      <a:endParaRPr lang="en-US" sz="1400" kern="100">
                        <a:effectLst/>
                        <a:highlight>
                          <a:srgbClr val="D2DEEF"/>
                        </a:highlight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highlight>
                            <a:srgbClr val="D2DEEF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Understand the significance of broader aspects of innovation, potential legal implications, and development.</a:t>
                      </a:r>
                      <a:endParaRPr lang="en-US" sz="1400" kern="100" dirty="0">
                        <a:effectLst/>
                        <a:highlight>
                          <a:srgbClr val="D2DEEF"/>
                        </a:highlight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highlight>
                            <a:srgbClr val="D2DEEF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Explored explainable AI (SHAP/LIME), cloud deployment, live API integration, evaluated ethical issues of AI predictions</a:t>
                      </a:r>
                      <a:endParaRPr lang="en-US" sz="1400" kern="100" dirty="0">
                        <a:effectLst/>
                        <a:highlight>
                          <a:srgbClr val="D2DEEF"/>
                        </a:highlight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ctr"/>
                </a:tc>
                <a:extLst>
                  <a:ext uri="{0D108BD9-81ED-4DB2-BD59-A6C34878D82A}">
                    <a16:rowId xmlns:a16="http://schemas.microsoft.com/office/drawing/2014/main" val="457111075"/>
                  </a:ext>
                </a:extLst>
              </a:tr>
              <a:tr h="87488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highlight>
                            <a:srgbClr val="5B9BD5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CLO6</a:t>
                      </a:r>
                      <a:endParaRPr lang="en-US" sz="1400" kern="100">
                        <a:effectLst/>
                        <a:highlight>
                          <a:srgbClr val="5B9BD5"/>
                        </a:highlight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highlight>
                            <a:srgbClr val="EAEFF7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PLO7:Communication</a:t>
                      </a:r>
                      <a:endParaRPr lang="en-US" sz="1400" kern="100">
                        <a:effectLst/>
                        <a:highlight>
                          <a:srgbClr val="EAEFF7"/>
                        </a:highlight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highlight>
                            <a:srgbClr val="EAEFF7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Demonstrate effective skills in verbal and written communication during presentations, discussions, and reports.</a:t>
                      </a:r>
                      <a:endParaRPr lang="en-US" sz="1400" kern="100" dirty="0">
                        <a:effectLst/>
                        <a:highlight>
                          <a:srgbClr val="EAEFF7"/>
                        </a:highlight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highlight>
                            <a:srgbClr val="EAEFF7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Delivered presentations, prepared proposal and report, documented system design and methodology clearly</a:t>
                      </a:r>
                      <a:endParaRPr lang="en-US" sz="1400" kern="100" dirty="0">
                        <a:effectLst/>
                        <a:highlight>
                          <a:srgbClr val="EAEFF7"/>
                        </a:highlight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ctr"/>
                </a:tc>
                <a:extLst>
                  <a:ext uri="{0D108BD9-81ED-4DB2-BD59-A6C34878D82A}">
                    <a16:rowId xmlns:a16="http://schemas.microsoft.com/office/drawing/2014/main" val="2687756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6670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F57BBC-360B-5804-7721-436B1A602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6890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Persistent flight delays cause major </a:t>
            </a:r>
            <a:r>
              <a:rPr 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financial losses 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for airlines and </a:t>
            </a:r>
            <a:r>
              <a:rPr 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frustration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for passengers</a:t>
            </a:r>
          </a:p>
          <a:p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Current </a:t>
            </a:r>
            <a:r>
              <a:rPr lang="en-US" dirty="0" err="1">
                <a:solidFill>
                  <a:srgbClr val="0000FF"/>
                </a:solidFill>
                <a:cs typeface="Times New Roman" panose="02020603050405020304" pitchFamily="18" charset="0"/>
              </a:rPr>
              <a:t>solultions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lack </a:t>
            </a:r>
            <a:r>
              <a:rPr 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real-time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and </a:t>
            </a:r>
            <a:r>
              <a:rPr 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transparent predictions</a:t>
            </a:r>
          </a:p>
          <a:p>
            <a:r>
              <a:rPr lang="en-US" dirty="0" err="1">
                <a:solidFill>
                  <a:srgbClr val="0000FF"/>
                </a:solidFill>
                <a:cs typeface="Times New Roman" panose="02020603050405020304" pitchFamily="18" charset="0"/>
              </a:rPr>
              <a:t>Skylytics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introduces a </a:t>
            </a:r>
            <a:r>
              <a:rPr 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hybrid ensemble 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of </a:t>
            </a:r>
            <a:r>
              <a:rPr lang="en-US" dirty="0" err="1">
                <a:solidFill>
                  <a:srgbClr val="0000FF"/>
                </a:solidFill>
                <a:cs typeface="Times New Roman" panose="02020603050405020304" pitchFamily="18" charset="0"/>
              </a:rPr>
              <a:t>XGBoost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, LSTM, and Transformer models</a:t>
            </a:r>
          </a:p>
          <a:p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Integrated with </a:t>
            </a:r>
            <a:r>
              <a:rPr 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SHAP explainability 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for stakeholder trust</a:t>
            </a:r>
          </a:p>
          <a:p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Delivered through a </a:t>
            </a:r>
            <a:r>
              <a:rPr 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web dashboard 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and </a:t>
            </a:r>
            <a:r>
              <a:rPr 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iOS app 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for accessible, real-time insights</a:t>
            </a:r>
          </a:p>
        </p:txBody>
      </p:sp>
      <p:pic>
        <p:nvPicPr>
          <p:cNvPr id="3" name="Picture 2" descr="A anchor with a rope&#10;&#10;AI-generated content may be incorrect.">
            <a:extLst>
              <a:ext uri="{FF2B5EF4-FFF2-40B4-BE49-F238E27FC236}">
                <a16:creationId xmlns:a16="http://schemas.microsoft.com/office/drawing/2014/main" id="{C61FB012-0349-3191-4637-B9EF6CA160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2921" y="1"/>
            <a:ext cx="1013782" cy="101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229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C050BCB-8D1D-CE2B-716E-A1D75D7B73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99217"/>
            <a:ext cx="9941568" cy="3359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PK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rPr>
              <a:t>To</a:t>
            </a:r>
            <a:r>
              <a:rPr kumimoji="0" lang="en-US" altLang="en-PK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rPr>
              <a:t> co</a:t>
            </a:r>
            <a:r>
              <a:rPr kumimoji="0" lang="en-PK" altLang="en-PK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rPr>
              <a:t>llect and preprocess </a:t>
            </a:r>
            <a:r>
              <a:rPr kumimoji="0" lang="en-PK" altLang="en-PK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rPr>
              <a:t>aviation datasets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PK" sz="2400" dirty="0">
                <a:solidFill>
                  <a:srgbClr val="0000FF"/>
                </a:solidFill>
              </a:rPr>
              <a:t>To</a:t>
            </a:r>
            <a:r>
              <a:rPr lang="en-US" altLang="en-PK" sz="2400" b="1" dirty="0">
                <a:solidFill>
                  <a:srgbClr val="0000FF"/>
                </a:solidFill>
              </a:rPr>
              <a:t> d</a:t>
            </a:r>
            <a:r>
              <a:rPr kumimoji="0" lang="en-PK" altLang="en-PK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rPr>
              <a:t>evelop</a:t>
            </a:r>
            <a:r>
              <a:rPr kumimoji="0" lang="en-PK" altLang="en-PK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rPr>
              <a:t> a hybrid machine learning and deep learning model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PK" sz="2400" dirty="0">
                <a:solidFill>
                  <a:srgbClr val="0000FF"/>
                </a:solidFill>
              </a:rPr>
              <a:t>To</a:t>
            </a:r>
            <a:r>
              <a:rPr lang="en-US" altLang="en-PK" sz="2400" b="1" dirty="0">
                <a:solidFill>
                  <a:srgbClr val="0000FF"/>
                </a:solidFill>
              </a:rPr>
              <a:t> d</a:t>
            </a:r>
            <a:r>
              <a:rPr kumimoji="0" lang="en-PK" altLang="en-PK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rPr>
              <a:t>esign </a:t>
            </a:r>
            <a:r>
              <a:rPr kumimoji="0" lang="en-PK" altLang="en-PK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rPr>
              <a:t>backend API services using FastAPI and Docker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PK" sz="2400" dirty="0">
                <a:solidFill>
                  <a:srgbClr val="0000FF"/>
                </a:solidFill>
              </a:rPr>
              <a:t>To</a:t>
            </a:r>
            <a:r>
              <a:rPr lang="en-US" altLang="en-PK" sz="2400" b="1" dirty="0">
                <a:solidFill>
                  <a:srgbClr val="0000FF"/>
                </a:solidFill>
              </a:rPr>
              <a:t> </a:t>
            </a:r>
            <a:r>
              <a:rPr lang="en-US" altLang="en-PK" sz="2400" b="1" dirty="0" err="1">
                <a:solidFill>
                  <a:srgbClr val="0000FF"/>
                </a:solidFill>
              </a:rPr>
              <a:t>i</a:t>
            </a:r>
            <a:r>
              <a:rPr kumimoji="0" lang="en-PK" altLang="en-PK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rPr>
              <a:t>mplement </a:t>
            </a:r>
            <a:r>
              <a:rPr kumimoji="0" lang="en-PK" altLang="en-PK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rPr>
              <a:t>a scalable database system with PostgreSQL and Redis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PK" sz="2400" dirty="0">
                <a:solidFill>
                  <a:srgbClr val="0000FF"/>
                </a:solidFill>
              </a:rPr>
              <a:t>To</a:t>
            </a:r>
            <a:r>
              <a:rPr lang="en-US" altLang="en-PK" sz="2400" b="1" dirty="0">
                <a:solidFill>
                  <a:srgbClr val="0000FF"/>
                </a:solidFill>
              </a:rPr>
              <a:t> b</a:t>
            </a:r>
            <a:r>
              <a:rPr lang="en-US" sz="2400" b="1" dirty="0">
                <a:solidFill>
                  <a:srgbClr val="0000FF"/>
                </a:solidFill>
              </a:rPr>
              <a:t>uild </a:t>
            </a:r>
            <a:r>
              <a:rPr lang="en-US" sz="2400" dirty="0">
                <a:solidFill>
                  <a:srgbClr val="0000FF"/>
                </a:solidFill>
              </a:rPr>
              <a:t>a</a:t>
            </a:r>
            <a:r>
              <a:rPr lang="en-US" sz="2400" b="1" dirty="0">
                <a:solidFill>
                  <a:srgbClr val="0000FF"/>
                </a:solidFill>
              </a:rPr>
              <a:t> web application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FF"/>
                </a:solidFill>
              </a:rPr>
              <a:t>with prediction meter and analytics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PK" sz="2400" dirty="0">
                <a:solidFill>
                  <a:srgbClr val="0000FF"/>
                </a:solidFill>
              </a:rPr>
              <a:t>To</a:t>
            </a:r>
            <a:r>
              <a:rPr lang="en-US" altLang="en-PK" sz="2400" b="1" dirty="0">
                <a:solidFill>
                  <a:srgbClr val="0000FF"/>
                </a:solidFill>
              </a:rPr>
              <a:t> d</a:t>
            </a:r>
            <a:r>
              <a:rPr kumimoji="0" lang="en-PK" altLang="en-PK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rPr>
              <a:t>evelop </a:t>
            </a:r>
            <a:r>
              <a:rPr kumimoji="0" lang="en-PK" altLang="en-PK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rPr>
              <a:t>an </a:t>
            </a:r>
            <a:r>
              <a:rPr kumimoji="0" lang="en-US" altLang="en-PK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rPr>
              <a:t>iOS app with real-time features aligned to the web platform</a:t>
            </a:r>
            <a:endParaRPr kumimoji="0" lang="en-PK" altLang="en-PK" sz="240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</a:endParaRPr>
          </a:p>
        </p:txBody>
      </p:sp>
      <p:pic>
        <p:nvPicPr>
          <p:cNvPr id="3" name="Picture 2" descr="A anchor with a rope&#10;&#10;AI-generated content may be incorrect.">
            <a:extLst>
              <a:ext uri="{FF2B5EF4-FFF2-40B4-BE49-F238E27FC236}">
                <a16:creationId xmlns:a16="http://schemas.microsoft.com/office/drawing/2014/main" id="{1FE9E733-B1F1-2872-1CC7-ED6680C085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2921" y="1"/>
            <a:ext cx="1013782" cy="101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533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8BF3B-4D9C-FBDA-C001-7D2728FE1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0A7E4-F766-D89F-04C6-6AF0E9B3E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Novelty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E5686D4-FC14-A317-163A-E8BEE368A2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55812"/>
            <a:ext cx="10363200" cy="3319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Hybrid Ensemble: 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Combines </a:t>
            </a:r>
            <a:r>
              <a:rPr lang="en-US" dirty="0" err="1">
                <a:solidFill>
                  <a:srgbClr val="0000FF"/>
                </a:solidFill>
                <a:cs typeface="Times New Roman" panose="02020603050405020304" pitchFamily="18" charset="0"/>
              </a:rPr>
              <a:t>XGBoost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, LSTM, and Transformer models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Explainable AI: 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SHAP-based feature attribution for trust and clarity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Interactive Web Application: 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Real-time predictions, heatmaps, and what-if analysis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Cross-Platform Access: 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Unified experience on web and iOS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Scalable Cloud Deployment: 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Reliable, production-ready system</a:t>
            </a:r>
          </a:p>
        </p:txBody>
      </p:sp>
      <p:pic>
        <p:nvPicPr>
          <p:cNvPr id="3" name="Picture 2" descr="A anchor with a rope&#10;&#10;AI-generated content may be incorrect.">
            <a:extLst>
              <a:ext uri="{FF2B5EF4-FFF2-40B4-BE49-F238E27FC236}">
                <a16:creationId xmlns:a16="http://schemas.microsoft.com/office/drawing/2014/main" id="{9A74A8E1-8D1B-2916-9928-ACCE00A454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2921" y="1"/>
            <a:ext cx="1013782" cy="101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882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 and Beneficiaries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86A90F0-FD29-F37F-DC9F-17711FECD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341"/>
            <a:ext cx="10515600" cy="4781390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Following are the deliverables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en-PK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Hybrid ML and DL prediction model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en-PK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Backend API services using </a:t>
            </a:r>
            <a:r>
              <a:rPr lang="en-US" altLang="en-PK" sz="24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FastAPI</a:t>
            </a:r>
            <a:r>
              <a:rPr lang="en-US" altLang="en-PK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 and Docker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PK" altLang="en-PK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Scalable PostgreSQL and Redis database system</a:t>
            </a:r>
            <a:endParaRPr lang="en-US" altLang="en-PK" sz="2400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en-PK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Comprehensive website with prediction meter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en-PK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Interactive what-if analysis and delay heatmaps</a:t>
            </a:r>
            <a:endParaRPr lang="en-PK" altLang="en-PK" sz="2400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IOS application replicating website functionalities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r>
              <a:rPr lang="en-US" dirty="0">
                <a:cs typeface="Times New Roman" panose="02020603050405020304" pitchFamily="18" charset="0"/>
              </a:rPr>
              <a:t>Following are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the beneficiaries</a:t>
            </a:r>
          </a:p>
          <a:p>
            <a:pPr marL="342900" indent="-3429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PK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Airline managers, staff, and passengers reliable predictions, smarter decisions, improved travel experience</a:t>
            </a:r>
          </a:p>
          <a:p>
            <a:pPr marL="342900" indent="-3429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PK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Airlines, airports, and regulators reduced costs, optimized operations, enhanced oversight</a:t>
            </a:r>
            <a:endParaRPr lang="en-US" dirty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  <p:pic>
        <p:nvPicPr>
          <p:cNvPr id="3" name="Picture 2" descr="A anchor with a rope&#10;&#10;AI-generated content may be incorrect.">
            <a:extLst>
              <a:ext uri="{FF2B5EF4-FFF2-40B4-BE49-F238E27FC236}">
                <a16:creationId xmlns:a16="http://schemas.microsoft.com/office/drawing/2014/main" id="{59177824-604F-BDDA-8B21-C4C72797FA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2921" y="1"/>
            <a:ext cx="1013782" cy="101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08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3A5675-3FE1-E572-17BE-6F951AD86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992558" cy="4667250"/>
          </a:xfrm>
        </p:spPr>
        <p:txBody>
          <a:bodyPr>
            <a:normAutofit/>
          </a:bodyPr>
          <a:lstStyle/>
          <a:p>
            <a:r>
              <a:rPr lang="en-US" sz="2600" b="1" dirty="0">
                <a:cs typeface="Times New Roman" panose="02020603050405020304" pitchFamily="18" charset="0"/>
              </a:rPr>
              <a:t>PRIMARY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PK" sz="2600" dirty="0">
                <a:solidFill>
                  <a:srgbClr val="0000FF"/>
                </a:solidFill>
                <a:cs typeface="Times New Roman" panose="02020603050405020304" pitchFamily="18" charset="0"/>
              </a:rPr>
              <a:t>Flight delay prediction using hybrid ML + DL models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PK" sz="2600" dirty="0">
                <a:solidFill>
                  <a:srgbClr val="0000FF"/>
                </a:solidFill>
                <a:cs typeface="Times New Roman" panose="02020603050405020304" pitchFamily="18" charset="0"/>
              </a:rPr>
              <a:t>Integration of flight, weather, and airport datasets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PK" sz="2600" dirty="0">
                <a:solidFill>
                  <a:srgbClr val="0000FF"/>
                </a:solidFill>
                <a:cs typeface="Times New Roman" panose="02020603050405020304" pitchFamily="18" charset="0"/>
              </a:rPr>
              <a:t>Explainable predictions with SHAP for transparency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PK" sz="2600" dirty="0">
                <a:solidFill>
                  <a:srgbClr val="0000FF"/>
                </a:solidFill>
                <a:cs typeface="Times New Roman" panose="02020603050405020304" pitchFamily="18" charset="0"/>
              </a:rPr>
              <a:t>Scalable deployment with </a:t>
            </a:r>
            <a:r>
              <a:rPr lang="en-US" altLang="en-PK" sz="26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FastAPI</a:t>
            </a:r>
            <a:r>
              <a:rPr lang="en-US" altLang="en-PK" sz="2600" dirty="0">
                <a:solidFill>
                  <a:srgbClr val="0000FF"/>
                </a:solidFill>
                <a:cs typeface="Times New Roman" panose="02020603050405020304" pitchFamily="18" charset="0"/>
              </a:rPr>
              <a:t>, Docker, PostgreSQL, Redis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PK" sz="2600" dirty="0">
                <a:solidFill>
                  <a:srgbClr val="0000FF"/>
                </a:solidFill>
                <a:cs typeface="Times New Roman" panose="02020603050405020304" pitchFamily="18" charset="0"/>
              </a:rPr>
              <a:t>Multi-platform access through website and iOS app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PK" sz="2600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600" b="1" dirty="0">
                <a:cs typeface="Times New Roman" panose="02020603050405020304" pitchFamily="18" charset="0"/>
              </a:rPr>
              <a:t>Optional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600" dirty="0">
                <a:solidFill>
                  <a:srgbClr val="0000FF"/>
                </a:solidFill>
                <a:cs typeface="Times New Roman" panose="02020603050405020304" pitchFamily="18" charset="0"/>
              </a:rPr>
              <a:t>Real-time aviation APIs integration (FlightAware, FlightRadar24)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600" dirty="0">
                <a:solidFill>
                  <a:srgbClr val="0000FF"/>
                </a:solidFill>
                <a:cs typeface="Times New Roman" panose="02020603050405020304" pitchFamily="18" charset="0"/>
              </a:rPr>
              <a:t>3D flight visualization for enhanced interactivity</a:t>
            </a:r>
          </a:p>
        </p:txBody>
      </p:sp>
      <p:pic>
        <p:nvPicPr>
          <p:cNvPr id="3" name="Picture 2" descr="A anchor with a rope&#10;&#10;AI-generated content may be incorrect.">
            <a:extLst>
              <a:ext uri="{FF2B5EF4-FFF2-40B4-BE49-F238E27FC236}">
                <a16:creationId xmlns:a16="http://schemas.microsoft.com/office/drawing/2014/main" id="{66A85FDC-CD61-0239-4C92-86F03C79CF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2921" y="1"/>
            <a:ext cx="1013782" cy="101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385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</a:t>
            </a:r>
            <a:r>
              <a:rPr lang="en-US" dirty="0">
                <a:cs typeface="Times New Roman" panose="02020603050405020304" pitchFamily="18" charset="0"/>
              </a:rPr>
              <a:t>– (1/4) Prototyping Phase</a:t>
            </a:r>
            <a:endParaRPr lang="en-US" dirty="0"/>
          </a:p>
        </p:txBody>
      </p:sp>
      <p:pic>
        <p:nvPicPr>
          <p:cNvPr id="5" name="Content Placeholder 4" descr="A diagram of a process&#10;&#10;AI-generated content may be incorrect.">
            <a:extLst>
              <a:ext uri="{FF2B5EF4-FFF2-40B4-BE49-F238E27FC236}">
                <a16:creationId xmlns:a16="http://schemas.microsoft.com/office/drawing/2014/main" id="{A4439C57-453E-B96A-1941-ED22B4120A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9" t="7746" r="954" b="22176"/>
          <a:stretch>
            <a:fillRect/>
          </a:stretch>
        </p:blipFill>
        <p:spPr>
          <a:xfrm>
            <a:off x="3512606" y="1798645"/>
            <a:ext cx="5166788" cy="2075769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708F96-AFD4-C2A3-7A01-3969FA6DB13B}"/>
              </a:ext>
            </a:extLst>
          </p:cNvPr>
          <p:cNvSpPr txBox="1"/>
          <p:nvPr/>
        </p:nvSpPr>
        <p:spPr>
          <a:xfrm>
            <a:off x="838200" y="3982372"/>
            <a:ext cx="1051560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0000FF"/>
                </a:solidFill>
                <a:cs typeface="Times New Roman" panose="02020603050405020304" pitchFamily="18" charset="0"/>
              </a:rPr>
              <a:t>Data Collection &amp; Preprocessing : </a:t>
            </a:r>
            <a:r>
              <a:rPr lang="en-US" sz="2600" dirty="0">
                <a:solidFill>
                  <a:srgbClr val="0000FF"/>
                </a:solidFill>
                <a:cs typeface="Times New Roman" panose="02020603050405020304" pitchFamily="18" charset="0"/>
              </a:rPr>
              <a:t>Gather flight datasets, clean &amp; standardize</a:t>
            </a:r>
          </a:p>
          <a:p>
            <a:r>
              <a:rPr lang="en-US" sz="2600" b="1" dirty="0">
                <a:solidFill>
                  <a:srgbClr val="0000FF"/>
                </a:solidFill>
                <a:cs typeface="Times New Roman" panose="02020603050405020304" pitchFamily="18" charset="0"/>
              </a:rPr>
              <a:t>Baseline Models : </a:t>
            </a:r>
            <a:r>
              <a:rPr lang="en-US" sz="2600" dirty="0">
                <a:solidFill>
                  <a:srgbClr val="0000FF"/>
                </a:solidFill>
                <a:cs typeface="Times New Roman" panose="02020603050405020304" pitchFamily="18" charset="0"/>
              </a:rPr>
              <a:t>Apply simple ML models for initial benchmarks</a:t>
            </a:r>
          </a:p>
          <a:p>
            <a:r>
              <a:rPr lang="en-US" sz="2600" b="1" dirty="0">
                <a:solidFill>
                  <a:srgbClr val="0000FF"/>
                </a:solidFill>
                <a:cs typeface="Times New Roman" panose="02020603050405020304" pitchFamily="18" charset="0"/>
              </a:rPr>
              <a:t>EDA : </a:t>
            </a:r>
            <a:r>
              <a:rPr lang="en-US" sz="2600" dirty="0">
                <a:solidFill>
                  <a:srgbClr val="0000FF"/>
                </a:solidFill>
                <a:cs typeface="Times New Roman" panose="02020603050405020304" pitchFamily="18" charset="0"/>
              </a:rPr>
              <a:t>Explore delay patterns and key influencing factors</a:t>
            </a:r>
          </a:p>
          <a:p>
            <a:r>
              <a:rPr lang="en-US" sz="2600" b="1" dirty="0">
                <a:solidFill>
                  <a:srgbClr val="0000FF"/>
                </a:solidFill>
                <a:cs typeface="Times New Roman" panose="02020603050405020304" pitchFamily="18" charset="0"/>
              </a:rPr>
              <a:t>Pipeline Validation : </a:t>
            </a:r>
            <a:r>
              <a:rPr lang="en-US" sz="2600" dirty="0">
                <a:solidFill>
                  <a:srgbClr val="0000FF"/>
                </a:solidFill>
                <a:cs typeface="Times New Roman" panose="02020603050405020304" pitchFamily="18" charset="0"/>
              </a:rPr>
              <a:t>Test end-to-end data flow with small experiments</a:t>
            </a:r>
          </a:p>
          <a:p>
            <a:r>
              <a:rPr lang="en-US" sz="2600" b="1" dirty="0">
                <a:solidFill>
                  <a:srgbClr val="0000FF"/>
                </a:solidFill>
                <a:cs typeface="Times New Roman" panose="02020603050405020304" pitchFamily="18" charset="0"/>
              </a:rPr>
              <a:t>Benchmark Results : </a:t>
            </a:r>
            <a:r>
              <a:rPr lang="en-US" sz="2600" dirty="0">
                <a:solidFill>
                  <a:srgbClr val="0000FF"/>
                </a:solidFill>
                <a:cs typeface="Times New Roman" panose="02020603050405020304" pitchFamily="18" charset="0"/>
              </a:rPr>
              <a:t>Record baseline accuracy for later comparison</a:t>
            </a:r>
          </a:p>
          <a:p>
            <a:endParaRPr lang="en-US" dirty="0"/>
          </a:p>
        </p:txBody>
      </p:sp>
      <p:pic>
        <p:nvPicPr>
          <p:cNvPr id="3" name="Picture 2" descr="A anchor with a rope&#10;&#10;AI-generated content may be incorrect.">
            <a:extLst>
              <a:ext uri="{FF2B5EF4-FFF2-40B4-BE49-F238E27FC236}">
                <a16:creationId xmlns:a16="http://schemas.microsoft.com/office/drawing/2014/main" id="{5F99EF3D-3833-5659-2065-16331E9F9A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2921" y="1"/>
            <a:ext cx="1013782" cy="101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805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D170-3549-A83C-9BCC-9B4D82D33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D4E15-DBB4-F3CF-61DE-34041B121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</a:t>
            </a:r>
            <a:r>
              <a:rPr lang="en-US" dirty="0">
                <a:cs typeface="Times New Roman" panose="02020603050405020304" pitchFamily="18" charset="0"/>
              </a:rPr>
              <a:t>– (2/4) Advanced Model Development Phase</a:t>
            </a:r>
            <a:endParaRPr lang="en-US" dirty="0"/>
          </a:p>
        </p:txBody>
      </p:sp>
      <p:pic>
        <p:nvPicPr>
          <p:cNvPr id="6" name="Content Placeholder 5" descr="A diagram of a process&#10;&#10;AI-generated content may be incorrect.">
            <a:extLst>
              <a:ext uri="{FF2B5EF4-FFF2-40B4-BE49-F238E27FC236}">
                <a16:creationId xmlns:a16="http://schemas.microsoft.com/office/drawing/2014/main" id="{3426C223-60F5-692E-539B-2876CC4E10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514" y="2383735"/>
            <a:ext cx="5192486" cy="3325794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9F4309-0D63-A7D5-6E43-2145EF15979C}"/>
              </a:ext>
            </a:extLst>
          </p:cNvPr>
          <p:cNvSpPr txBox="1"/>
          <p:nvPr/>
        </p:nvSpPr>
        <p:spPr>
          <a:xfrm>
            <a:off x="6424516" y="1630586"/>
            <a:ext cx="492928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FF"/>
                </a:solidFill>
                <a:cs typeface="Times New Roman" panose="02020603050405020304" pitchFamily="18" charset="0"/>
              </a:rPr>
              <a:t>Feature Engineering: </a:t>
            </a:r>
            <a:r>
              <a:rPr lang="en-US" sz="2200" dirty="0">
                <a:solidFill>
                  <a:srgbClr val="0000FF"/>
                </a:solidFill>
                <a:cs typeface="Times New Roman" panose="02020603050405020304" pitchFamily="18" charset="0"/>
              </a:rPr>
              <a:t>Merge flight, weather, and route datasets into enriched inputs</a:t>
            </a:r>
          </a:p>
          <a:p>
            <a:r>
              <a:rPr lang="en-US" sz="2200" b="1" dirty="0">
                <a:solidFill>
                  <a:srgbClr val="0000FF"/>
                </a:solidFill>
                <a:cs typeface="Times New Roman" panose="02020603050405020304" pitchFamily="18" charset="0"/>
              </a:rPr>
              <a:t>Tree-Based Models: </a:t>
            </a:r>
            <a:r>
              <a:rPr lang="en-US" sz="2200" dirty="0">
                <a:solidFill>
                  <a:srgbClr val="0000FF"/>
                </a:solidFill>
                <a:cs typeface="Times New Roman" panose="02020603050405020304" pitchFamily="18" charset="0"/>
              </a:rPr>
              <a:t>Train Decision Tree, Random Forest, and </a:t>
            </a:r>
            <a:r>
              <a:rPr lang="en-US" sz="22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XGBoost</a:t>
            </a:r>
            <a:r>
              <a:rPr lang="en-US" sz="2200" dirty="0">
                <a:solidFill>
                  <a:srgbClr val="0000FF"/>
                </a:solidFill>
                <a:cs typeface="Times New Roman" panose="02020603050405020304" pitchFamily="18" charset="0"/>
              </a:rPr>
              <a:t> to capture non-linear patterns</a:t>
            </a:r>
          </a:p>
          <a:p>
            <a:r>
              <a:rPr lang="en-US" sz="2200" b="1" dirty="0">
                <a:solidFill>
                  <a:srgbClr val="0000FF"/>
                </a:solidFill>
                <a:cs typeface="Times New Roman" panose="02020603050405020304" pitchFamily="18" charset="0"/>
              </a:rPr>
              <a:t>Deep Models: </a:t>
            </a:r>
            <a:r>
              <a:rPr lang="en-US" sz="2200" dirty="0">
                <a:solidFill>
                  <a:srgbClr val="0000FF"/>
                </a:solidFill>
                <a:cs typeface="Times New Roman" panose="02020603050405020304" pitchFamily="18" charset="0"/>
              </a:rPr>
              <a:t>Use LSTM and Transformer to model temporal dependencies</a:t>
            </a:r>
          </a:p>
          <a:p>
            <a:r>
              <a:rPr lang="en-US" sz="2200" b="1" dirty="0">
                <a:solidFill>
                  <a:srgbClr val="0000FF"/>
                </a:solidFill>
                <a:cs typeface="Times New Roman" panose="02020603050405020304" pitchFamily="18" charset="0"/>
              </a:rPr>
              <a:t>Hybrid Ensemble: </a:t>
            </a:r>
            <a:r>
              <a:rPr lang="en-US" sz="2200" dirty="0">
                <a:solidFill>
                  <a:srgbClr val="0000FF"/>
                </a:solidFill>
                <a:cs typeface="Times New Roman" panose="02020603050405020304" pitchFamily="18" charset="0"/>
              </a:rPr>
              <a:t>Combine outputs with stacking/weighted fusion for robust predictions</a:t>
            </a:r>
          </a:p>
          <a:p>
            <a:r>
              <a:rPr lang="en-US" sz="2200" b="1" dirty="0">
                <a:solidFill>
                  <a:srgbClr val="0000FF"/>
                </a:solidFill>
                <a:cs typeface="Times New Roman" panose="02020603050405020304" pitchFamily="18" charset="0"/>
              </a:rPr>
              <a:t>Evaluation &amp; Explainability: </a:t>
            </a:r>
            <a:r>
              <a:rPr lang="en-US" sz="2200" dirty="0">
                <a:solidFill>
                  <a:srgbClr val="0000FF"/>
                </a:solidFill>
                <a:cs typeface="Times New Roman" panose="02020603050405020304" pitchFamily="18" charset="0"/>
              </a:rPr>
              <a:t>Validate with F1/ROC-AUC; interpret predictions using SHAP</a:t>
            </a:r>
          </a:p>
        </p:txBody>
      </p:sp>
      <p:pic>
        <p:nvPicPr>
          <p:cNvPr id="3" name="Picture 2" descr="A anchor with a rope&#10;&#10;AI-generated content may be incorrect.">
            <a:extLst>
              <a:ext uri="{FF2B5EF4-FFF2-40B4-BE49-F238E27FC236}">
                <a16:creationId xmlns:a16="http://schemas.microsoft.com/office/drawing/2014/main" id="{C316C7E7-D557-596A-817C-A3505F07DE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2921" y="1"/>
            <a:ext cx="1013782" cy="101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123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D308B-6053-EE2F-C781-6BF04F63C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4F621-A7AC-B54A-B6A5-776CF49D2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404628" cy="1325563"/>
          </a:xfrm>
        </p:spPr>
        <p:txBody>
          <a:bodyPr/>
          <a:lstStyle/>
          <a:p>
            <a:r>
              <a:rPr lang="en-US" dirty="0"/>
              <a:t>Methodology </a:t>
            </a:r>
            <a:r>
              <a:rPr lang="en-US" dirty="0">
                <a:cs typeface="Times New Roman" panose="02020603050405020304" pitchFamily="18" charset="0"/>
              </a:rPr>
              <a:t>– (3/4) Evaluation, Explainability &amp; Deployment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1E4619BD-101B-07CA-45B7-DBED2DC13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380" y="2133601"/>
            <a:ext cx="10404628" cy="3770049"/>
          </a:xfrm>
        </p:spPr>
        <p:txBody>
          <a:bodyPr>
            <a:normAutofit fontScale="62500" lnSpcReduction="20000"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PK" altLang="en-PK" sz="3800" b="1" dirty="0">
                <a:solidFill>
                  <a:srgbClr val="0000FF"/>
                </a:solidFill>
                <a:cs typeface="Times New Roman" panose="02020603050405020304" pitchFamily="18" charset="0"/>
              </a:rPr>
              <a:t>Multi-metric evaluation: </a:t>
            </a:r>
            <a:r>
              <a:rPr lang="en-PK" altLang="en-PK" sz="3800" dirty="0">
                <a:solidFill>
                  <a:srgbClr val="0000FF"/>
                </a:solidFill>
                <a:cs typeface="Times New Roman" panose="02020603050405020304" pitchFamily="18" charset="0"/>
              </a:rPr>
              <a:t>Use precision, recall, F1-score, ROC-AUC (etc.) to evaluate model performance on imbalance, plus error analysis on mispredictions</a:t>
            </a:r>
            <a:endParaRPr lang="en-US" altLang="en-PK" sz="3800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PK" altLang="en-PK" sz="3800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PK" sz="3800" b="1" dirty="0">
                <a:solidFill>
                  <a:srgbClr val="0000FF"/>
                </a:solidFill>
                <a:cs typeface="Times New Roman" panose="02020603050405020304" pitchFamily="18" charset="0"/>
              </a:rPr>
              <a:t>Explainable AI</a:t>
            </a:r>
            <a:r>
              <a:rPr lang="en-PK" altLang="en-PK" sz="3800" b="1" dirty="0">
                <a:solidFill>
                  <a:srgbClr val="0000FF"/>
                </a:solidFill>
                <a:cs typeface="Times New Roman" panose="02020603050405020304" pitchFamily="18" charset="0"/>
              </a:rPr>
              <a:t>: </a:t>
            </a:r>
            <a:r>
              <a:rPr lang="en-US" altLang="en-PK" sz="3800" dirty="0">
                <a:solidFill>
                  <a:srgbClr val="0000FF"/>
                </a:solidFill>
                <a:cs typeface="Times New Roman" panose="02020603050405020304" pitchFamily="18" charset="0"/>
              </a:rPr>
              <a:t>Apply SHAP (Shapley values) and LIME(optional) to each prediction for feature attribution, improving transparency and stakeholder trust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PK" altLang="en-PK" sz="3800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PK" sz="3800" b="1" dirty="0">
                <a:solidFill>
                  <a:srgbClr val="0000FF"/>
                </a:solidFill>
                <a:cs typeface="Times New Roman" panose="02020603050405020304" pitchFamily="18" charset="0"/>
              </a:rPr>
              <a:t>Realtime inference: </a:t>
            </a:r>
            <a:r>
              <a:rPr lang="en-US" altLang="en-PK" sz="3800" dirty="0">
                <a:solidFill>
                  <a:srgbClr val="0000FF"/>
                </a:solidFill>
                <a:cs typeface="Times New Roman" panose="02020603050405020304" pitchFamily="18" charset="0"/>
              </a:rPr>
              <a:t>Expose the trained model via a </a:t>
            </a:r>
            <a:r>
              <a:rPr lang="en-US" altLang="en-PK" sz="3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FastAPI</a:t>
            </a:r>
            <a:r>
              <a:rPr lang="en-US" altLang="en-PK" sz="3800" dirty="0">
                <a:solidFill>
                  <a:srgbClr val="0000FF"/>
                </a:solidFill>
                <a:cs typeface="Times New Roman" panose="02020603050405020304" pitchFamily="18" charset="0"/>
              </a:rPr>
              <a:t> RESTful backend, enabling real-time prediction queries for external applications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PK" altLang="en-PK" sz="3800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PK" sz="3800" b="1" dirty="0">
                <a:solidFill>
                  <a:srgbClr val="0000FF"/>
                </a:solidFill>
                <a:cs typeface="Times New Roman" panose="02020603050405020304" pitchFamily="18" charset="0"/>
              </a:rPr>
              <a:t>Scalable deployment: </a:t>
            </a:r>
            <a:r>
              <a:rPr lang="en-US" altLang="en-PK" sz="3800" dirty="0">
                <a:solidFill>
                  <a:srgbClr val="0000FF"/>
                </a:solidFill>
                <a:cs typeface="Times New Roman" panose="02020603050405020304" pitchFamily="18" charset="0"/>
              </a:rPr>
              <a:t>Containerize the API using Docker for portability; utilize Kubernetes (optional) for scaling to high traffic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PK" sz="3800" b="1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PK" sz="3800" b="1" dirty="0">
                <a:solidFill>
                  <a:srgbClr val="0000FF"/>
                </a:solidFill>
                <a:cs typeface="Times New Roman" panose="02020603050405020304" pitchFamily="18" charset="0"/>
              </a:rPr>
              <a:t>Performance &amp; monitoring:</a:t>
            </a:r>
            <a:r>
              <a:rPr lang="en-US" altLang="en-PK" sz="3800" dirty="0">
                <a:solidFill>
                  <a:srgbClr val="0000FF"/>
                </a:solidFill>
                <a:cs typeface="Times New Roman" panose="02020603050405020304" pitchFamily="18" charset="0"/>
              </a:rPr>
              <a:t> Employ Redis caching to speed up frequent queries and implement monitoring for data drift or anomalies to maintain reliability</a:t>
            </a:r>
            <a:endParaRPr lang="en-PK" altLang="en-PK" sz="3800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endParaRPr lang="en-PK" dirty="0">
              <a:cs typeface="Times New Roman" panose="02020603050405020304" pitchFamily="18" charset="0"/>
            </a:endParaRPr>
          </a:p>
        </p:txBody>
      </p:sp>
      <p:pic>
        <p:nvPicPr>
          <p:cNvPr id="4" name="Picture 3" descr="A anchor with a rope&#10;&#10;AI-generated content may be incorrect.">
            <a:extLst>
              <a:ext uri="{FF2B5EF4-FFF2-40B4-BE49-F238E27FC236}">
                <a16:creationId xmlns:a16="http://schemas.microsoft.com/office/drawing/2014/main" id="{53BCBDF4-C42E-214B-AD00-98E7974E1F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2921" y="1"/>
            <a:ext cx="1013782" cy="101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270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E845C-87FF-2EFC-5B2F-3009EFFC5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D05F9-7B41-846D-DB18-56A82A204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</a:t>
            </a:r>
            <a:r>
              <a:rPr lang="en-US" dirty="0">
                <a:cs typeface="Times New Roman" panose="02020603050405020304" pitchFamily="18" charset="0"/>
              </a:rPr>
              <a:t>– (4/4) User Interfaces Development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FDFACB5-AA09-EA4B-1D2A-3C29AEE7C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9912"/>
            <a:ext cx="10515600" cy="4351338"/>
          </a:xfrm>
        </p:spPr>
        <p:txBody>
          <a:bodyPr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PK" sz="2400" b="1" dirty="0">
                <a:solidFill>
                  <a:srgbClr val="0000FF"/>
                </a:solidFill>
                <a:cs typeface="Times New Roman" panose="02020603050405020304" pitchFamily="18" charset="0"/>
              </a:rPr>
              <a:t>Web Application (Next.js + Tailwind): </a:t>
            </a:r>
            <a:r>
              <a:rPr lang="en-US" altLang="en-PK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Full-featured platform for managers with prediction meter, delay heatmaps, what-if analysis, and SHAP explanations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PK" altLang="en-PK" sz="2400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PK" sz="2400" b="1" dirty="0">
                <a:solidFill>
                  <a:srgbClr val="0000FF"/>
                </a:solidFill>
                <a:cs typeface="Times New Roman" panose="02020603050405020304" pitchFamily="18" charset="0"/>
              </a:rPr>
              <a:t>Interactive Analytics: </a:t>
            </a:r>
            <a:r>
              <a:rPr lang="en-US" altLang="en-PK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Visual tools for scenario testing, decision support, and transparent model insights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PK" altLang="en-PK" sz="2400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PK" sz="2400" b="1" dirty="0">
                <a:solidFill>
                  <a:srgbClr val="0000FF"/>
                </a:solidFill>
                <a:cs typeface="Times New Roman" panose="02020603050405020304" pitchFamily="18" charset="0"/>
              </a:rPr>
              <a:t>Unified Backend: </a:t>
            </a:r>
            <a:r>
              <a:rPr lang="en-US" altLang="en-PK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Both web and iOS connect to </a:t>
            </a:r>
            <a:r>
              <a:rPr lang="en-US" altLang="en-PK" sz="24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FastAPI</a:t>
            </a:r>
            <a:r>
              <a:rPr lang="en-US" altLang="en-PK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 API, ensuring consistent results across platforms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PK" altLang="en-PK" sz="2400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PK" sz="2400" b="1" dirty="0">
                <a:solidFill>
                  <a:srgbClr val="0000FF"/>
                </a:solidFill>
                <a:cs typeface="Times New Roman" panose="02020603050405020304" pitchFamily="18" charset="0"/>
              </a:rPr>
              <a:t>Collaboration &amp; UX:</a:t>
            </a:r>
            <a:r>
              <a:rPr lang="en-US" altLang="en-PK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 Website includes collaboration tools with a responsive and user-friendly design for wider adoption</a:t>
            </a:r>
            <a:endParaRPr lang="en-PK" altLang="en-PK" sz="2400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PK" altLang="en-PK" sz="2400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endParaRPr lang="en-PK" sz="2400" dirty="0">
              <a:cs typeface="Times New Roman" panose="02020603050405020304" pitchFamily="18" charset="0"/>
            </a:endParaRPr>
          </a:p>
        </p:txBody>
      </p:sp>
      <p:pic>
        <p:nvPicPr>
          <p:cNvPr id="4" name="Picture 3" descr="A anchor with a rope&#10;&#10;AI-generated content may be incorrect.">
            <a:extLst>
              <a:ext uri="{FF2B5EF4-FFF2-40B4-BE49-F238E27FC236}">
                <a16:creationId xmlns:a16="http://schemas.microsoft.com/office/drawing/2014/main" id="{4CD6617D-8CAA-9768-8915-45FE70A339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2921" y="1"/>
            <a:ext cx="1013782" cy="101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51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and Risks </a:t>
            </a:r>
            <a:r>
              <a:rPr lang="en-US" dirty="0">
                <a:cs typeface="Times New Roman" panose="02020603050405020304" pitchFamily="18" charset="0"/>
              </a:rPr>
              <a:t>(1/2)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0223D12-15A1-2E07-EA77-C043221BC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916327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Team Capabilities</a:t>
            </a:r>
          </a:p>
          <a:p>
            <a:r>
              <a:rPr lang="en-US" sz="2400" b="1" dirty="0">
                <a:solidFill>
                  <a:srgbClr val="0000FF"/>
                </a:solidFill>
                <a:cs typeface="Times New Roman" panose="02020603050405020304" pitchFamily="18" charset="0"/>
              </a:rPr>
              <a:t>Abdul Mutlib Ali </a:t>
            </a:r>
            <a:r>
              <a:rPr lang="en-US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– ML and data engineering</a:t>
            </a:r>
          </a:p>
          <a:p>
            <a:r>
              <a:rPr lang="en-US" sz="2400" b="1" dirty="0">
                <a:solidFill>
                  <a:srgbClr val="0000FF"/>
                </a:solidFill>
                <a:cs typeface="Times New Roman" panose="02020603050405020304" pitchFamily="18" charset="0"/>
              </a:rPr>
              <a:t>Abuzar Rashid </a:t>
            </a:r>
            <a:r>
              <a:rPr lang="en-US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– Web, databases and API Integration</a:t>
            </a:r>
          </a:p>
          <a:p>
            <a:r>
              <a:rPr lang="en-US" sz="2400" b="1" dirty="0">
                <a:solidFill>
                  <a:srgbClr val="0000FF"/>
                </a:solidFill>
                <a:cs typeface="Times New Roman" panose="02020603050405020304" pitchFamily="18" charset="0"/>
              </a:rPr>
              <a:t>Kumail Ahmed </a:t>
            </a:r>
            <a:r>
              <a:rPr lang="en-US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– Documentation and iOS App</a:t>
            </a:r>
          </a:p>
          <a:p>
            <a:endParaRPr lang="en-US" sz="2400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r>
              <a:rPr lang="en-US" b="1" dirty="0">
                <a:cs typeface="Times New Roman" panose="02020603050405020304" pitchFamily="18" charset="0"/>
              </a:rPr>
              <a:t>Hardware &amp; Software</a:t>
            </a:r>
          </a:p>
          <a:p>
            <a:r>
              <a:rPr lang="en-US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Standard laptops with cloud support</a:t>
            </a:r>
          </a:p>
          <a:p>
            <a:r>
              <a:rPr lang="en-US" sz="2400" b="1" dirty="0">
                <a:solidFill>
                  <a:srgbClr val="0000FF"/>
                </a:solidFill>
                <a:cs typeface="Times New Roman" panose="02020603050405020304" pitchFamily="18" charset="0"/>
              </a:rPr>
              <a:t>Python stack: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Pandas, scikit-learn, </a:t>
            </a:r>
            <a:r>
              <a:rPr lang="en-US" sz="24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XGBoost</a:t>
            </a:r>
            <a:r>
              <a:rPr lang="en-US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PyTorch</a:t>
            </a:r>
            <a:endParaRPr lang="en-US" sz="2400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FastAPI</a:t>
            </a:r>
            <a:r>
              <a:rPr lang="en-US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, Docker, PostgreSQL, Redis</a:t>
            </a:r>
          </a:p>
          <a:p>
            <a:r>
              <a:rPr lang="en-US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Next.js, Tailwind, SwiftUI</a:t>
            </a:r>
          </a:p>
          <a:p>
            <a:r>
              <a:rPr lang="en-US" sz="2400" b="1" dirty="0">
                <a:solidFill>
                  <a:srgbClr val="0000FF"/>
                </a:solidFill>
                <a:cs typeface="Times New Roman" panose="02020603050405020304" pitchFamily="18" charset="0"/>
              </a:rPr>
              <a:t>Data sources: </a:t>
            </a:r>
            <a:r>
              <a:rPr lang="en-US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BTS, Kaggle, </a:t>
            </a:r>
            <a:r>
              <a:rPr lang="en-US" sz="24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Meteostat</a:t>
            </a:r>
            <a:r>
              <a:rPr lang="en-US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OpenFlights</a:t>
            </a:r>
            <a:endParaRPr lang="en-US" sz="2400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  <p:pic>
        <p:nvPicPr>
          <p:cNvPr id="3" name="Picture 2" descr="A anchor with a rope&#10;&#10;AI-generated content may be incorrect.">
            <a:extLst>
              <a:ext uri="{FF2B5EF4-FFF2-40B4-BE49-F238E27FC236}">
                <a16:creationId xmlns:a16="http://schemas.microsoft.com/office/drawing/2014/main" id="{A7D99D12-018F-BDB9-91DF-D1B1ECF565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2921" y="1"/>
            <a:ext cx="1013782" cy="101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587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65068-3803-C727-EE87-55BE5F11F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62DCD-2A66-8557-3741-9483BE805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and Risks </a:t>
            </a:r>
            <a:r>
              <a:rPr lang="en-US" dirty="0">
                <a:cs typeface="Times New Roman" panose="02020603050405020304" pitchFamily="18" charset="0"/>
              </a:rPr>
              <a:t>(2/2)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6C7328-2102-367E-4A2F-7FF910489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08705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10000"/>
              </a:lnSpc>
            </a:pPr>
            <a:r>
              <a:rPr lang="en-US" sz="4000" b="1" dirty="0">
                <a:cs typeface="Times New Roman" panose="02020603050405020304" pitchFamily="18" charset="0"/>
              </a:rPr>
              <a:t>Budget</a:t>
            </a:r>
          </a:p>
          <a:p>
            <a:r>
              <a:rPr lang="en-US" sz="3300" dirty="0">
                <a:solidFill>
                  <a:srgbClr val="0000FF"/>
                </a:solidFill>
                <a:cs typeface="Times New Roman" panose="02020603050405020304" pitchFamily="18" charset="0"/>
              </a:rPr>
              <a:t>Apple Developer Account – 99 USD yearly</a:t>
            </a:r>
          </a:p>
          <a:p>
            <a:r>
              <a:rPr lang="en-US" sz="3300" dirty="0">
                <a:solidFill>
                  <a:srgbClr val="0000FF"/>
                </a:solidFill>
                <a:cs typeface="Times New Roman" panose="02020603050405020304" pitchFamily="18" charset="0"/>
              </a:rPr>
              <a:t>AWS EC2 and RDS – 10–15 USD monthly</a:t>
            </a:r>
          </a:p>
          <a:p>
            <a:r>
              <a:rPr lang="en-US" sz="3300" dirty="0">
                <a:solidFill>
                  <a:srgbClr val="0000FF"/>
                </a:solidFill>
                <a:cs typeface="Times New Roman" panose="02020603050405020304" pitchFamily="18" charset="0"/>
              </a:rPr>
              <a:t>Total estimated under PKR 90,000</a:t>
            </a:r>
          </a:p>
          <a:p>
            <a:r>
              <a:rPr lang="en-US" sz="3300" dirty="0">
                <a:solidFill>
                  <a:srgbClr val="0000FF"/>
                </a:solidFill>
                <a:cs typeface="Times New Roman" panose="02020603050405020304" pitchFamily="18" charset="0"/>
              </a:rPr>
              <a:t>Key Risks &amp; Mitigations</a:t>
            </a:r>
          </a:p>
          <a:p>
            <a:pPr marL="0" indent="0">
              <a:buNone/>
            </a:pPr>
            <a:endParaRPr lang="en-US" sz="3300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r>
              <a:rPr lang="en-US" sz="4000" b="1" dirty="0"/>
              <a:t>Risks hindering the proposed solution</a:t>
            </a:r>
            <a:endParaRPr lang="en-US" sz="3800" b="1" dirty="0">
              <a:cs typeface="Times New Roman" panose="02020603050405020304" pitchFamily="18" charset="0"/>
            </a:endParaRPr>
          </a:p>
          <a:p>
            <a:r>
              <a:rPr lang="en-US" sz="3800" b="1" dirty="0">
                <a:solidFill>
                  <a:srgbClr val="0000FF"/>
                </a:solidFill>
                <a:cs typeface="Times New Roman" panose="02020603050405020304" pitchFamily="18" charset="0"/>
              </a:rPr>
              <a:t>Data or API limits:</a:t>
            </a:r>
            <a:r>
              <a:rPr lang="en-US" sz="4000" b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sz="3300" dirty="0">
                <a:solidFill>
                  <a:srgbClr val="0000FF"/>
                </a:solidFill>
                <a:cs typeface="Times New Roman" panose="02020603050405020304" pitchFamily="18" charset="0"/>
              </a:rPr>
              <a:t>Usage caps and downtime → caching, fallback to historical datasets</a:t>
            </a:r>
          </a:p>
          <a:p>
            <a:r>
              <a:rPr lang="en-US" sz="3800" b="1" dirty="0">
                <a:solidFill>
                  <a:srgbClr val="0000FF"/>
                </a:solidFill>
                <a:cs typeface="Times New Roman" panose="02020603050405020304" pitchFamily="18" charset="0"/>
              </a:rPr>
              <a:t>Model uncertainty:</a:t>
            </a:r>
            <a:r>
              <a:rPr lang="en-US" sz="3300" dirty="0">
                <a:solidFill>
                  <a:srgbClr val="0000FF"/>
                </a:solidFill>
                <a:cs typeface="Times New Roman" panose="02020603050405020304" pitchFamily="18" charset="0"/>
              </a:rPr>
              <a:t> Flight delays unpredictable → hybrid models, SHAP explanations for trust</a:t>
            </a:r>
          </a:p>
          <a:p>
            <a:r>
              <a:rPr lang="en-US" sz="4000" b="1" dirty="0">
                <a:solidFill>
                  <a:srgbClr val="0000FF"/>
                </a:solidFill>
                <a:cs typeface="Times New Roman" panose="02020603050405020304" pitchFamily="18" charset="0"/>
              </a:rPr>
              <a:t>Compute constraints: </a:t>
            </a:r>
            <a:r>
              <a:rPr lang="en-US" sz="3300" dirty="0">
                <a:solidFill>
                  <a:srgbClr val="0000FF"/>
                </a:solidFill>
                <a:cs typeface="Times New Roman" panose="02020603050405020304" pitchFamily="18" charset="0"/>
              </a:rPr>
              <a:t>Deep models need high power → cloud training with AWS/</a:t>
            </a:r>
            <a:r>
              <a:rPr lang="en-US" sz="33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Colab</a:t>
            </a:r>
            <a:r>
              <a:rPr lang="en-US" sz="3300" dirty="0">
                <a:solidFill>
                  <a:srgbClr val="0000FF"/>
                </a:solidFill>
                <a:cs typeface="Times New Roman" panose="02020603050405020304" pitchFamily="18" charset="0"/>
              </a:rPr>
              <a:t> support</a:t>
            </a:r>
          </a:p>
          <a:p>
            <a:r>
              <a:rPr lang="en-US" sz="4000" b="1" dirty="0">
                <a:solidFill>
                  <a:srgbClr val="0000FF"/>
                </a:solidFill>
                <a:cs typeface="Times New Roman" panose="02020603050405020304" pitchFamily="18" charset="0"/>
              </a:rPr>
              <a:t>Integration complexity: </a:t>
            </a:r>
            <a:r>
              <a:rPr lang="en-US" sz="3300" dirty="0">
                <a:solidFill>
                  <a:srgbClr val="0000FF"/>
                </a:solidFill>
                <a:cs typeface="Times New Roman" panose="02020603050405020304" pitchFamily="18" charset="0"/>
              </a:rPr>
              <a:t>Multi-platform system → API-first modular design with staged testing</a:t>
            </a:r>
          </a:p>
          <a:p>
            <a:r>
              <a:rPr lang="en-US" sz="4000" b="1" dirty="0">
                <a:solidFill>
                  <a:srgbClr val="0000FF"/>
                </a:solidFill>
                <a:cs typeface="Times New Roman" panose="02020603050405020304" pitchFamily="18" charset="0"/>
              </a:rPr>
              <a:t>Timeline slippage: </a:t>
            </a:r>
            <a:r>
              <a:rPr lang="en-US" sz="3300" dirty="0">
                <a:solidFill>
                  <a:srgbClr val="0000FF"/>
                </a:solidFill>
                <a:cs typeface="Times New Roman" panose="02020603050405020304" pitchFamily="18" charset="0"/>
              </a:rPr>
              <a:t>Risk of project delays → buffer weeks added to milestones</a:t>
            </a:r>
          </a:p>
          <a:p>
            <a:r>
              <a:rPr lang="en-US" sz="4000" b="1" dirty="0">
                <a:solidFill>
                  <a:srgbClr val="0000FF"/>
                </a:solidFill>
                <a:cs typeface="Times New Roman" panose="02020603050405020304" pitchFamily="18" charset="0"/>
              </a:rPr>
              <a:t>Security &amp; compliance: </a:t>
            </a:r>
            <a:r>
              <a:rPr lang="en-US" sz="3300" dirty="0">
                <a:solidFill>
                  <a:srgbClr val="0000FF"/>
                </a:solidFill>
                <a:cs typeface="Times New Roman" panose="02020603050405020304" pitchFamily="18" charset="0"/>
              </a:rPr>
              <a:t>Sensitive aviation data → access control, secure key vaults, HTTPS</a:t>
            </a:r>
          </a:p>
        </p:txBody>
      </p:sp>
      <p:pic>
        <p:nvPicPr>
          <p:cNvPr id="3" name="Picture 2" descr="A anchor with a rope&#10;&#10;AI-generated content may be incorrect.">
            <a:extLst>
              <a:ext uri="{FF2B5EF4-FFF2-40B4-BE49-F238E27FC236}">
                <a16:creationId xmlns:a16="http://schemas.microsoft.com/office/drawing/2014/main" id="{F082E704-CB92-5C6B-5C46-8B39E22B4D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2921" y="1"/>
            <a:ext cx="1013782" cy="101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450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Gantt Chart [7</a:t>
            </a:r>
            <a:r>
              <a:rPr lang="en-US" kern="1200" baseline="30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Semester]</a:t>
            </a:r>
          </a:p>
        </p:txBody>
      </p:sp>
      <p:pic>
        <p:nvPicPr>
          <p:cNvPr id="7" name="Picture 6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00690A1C-AED5-8E55-25FE-8A00B53F2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725" y="1502720"/>
            <a:ext cx="5880996" cy="47930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3D4584-130B-73B9-3903-5398D7CBF072}"/>
              </a:ext>
            </a:extLst>
          </p:cNvPr>
          <p:cNvSpPr txBox="1"/>
          <p:nvPr/>
        </p:nvSpPr>
        <p:spPr>
          <a:xfrm>
            <a:off x="2943725" y="63082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73530" marR="1567180" algn="ctr">
              <a:spcBef>
                <a:spcPts val="5"/>
              </a:spcBef>
              <a:buNone/>
            </a:pPr>
            <a:r>
              <a:rPr lang="en-US" sz="1800" b="1" dirty="0">
                <a:solidFill>
                  <a:srgbClr val="4F81B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r>
              <a:rPr lang="en-US" sz="1800" b="1" spc="-40" dirty="0">
                <a:solidFill>
                  <a:srgbClr val="4F81B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4F81B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1800" b="1" spc="5" dirty="0">
                <a:solidFill>
                  <a:srgbClr val="4F81B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4F81B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800" b="1" spc="-5" dirty="0">
                <a:solidFill>
                  <a:srgbClr val="4F81B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4F81B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Fall</a:t>
            </a:r>
            <a:r>
              <a:rPr lang="en-US" sz="1800" b="1" spc="-5" dirty="0">
                <a:solidFill>
                  <a:srgbClr val="4F81B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spc="-20" dirty="0">
                <a:solidFill>
                  <a:srgbClr val="4F81B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lang="en-PK" sz="28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anchor with a rope&#10;&#10;AI-generated content may be incorrect.">
            <a:extLst>
              <a:ext uri="{FF2B5EF4-FFF2-40B4-BE49-F238E27FC236}">
                <a16:creationId xmlns:a16="http://schemas.microsoft.com/office/drawing/2014/main" id="{2C030EFC-0137-3746-2BF7-F141A58C12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2921" y="1"/>
            <a:ext cx="1013782" cy="101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744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B4218A3-09E0-64DB-26B7-1F0C45CF0480}"/>
              </a:ext>
            </a:extLst>
          </p:cNvPr>
          <p:cNvSpPr txBox="1"/>
          <p:nvPr/>
        </p:nvSpPr>
        <p:spPr>
          <a:xfrm>
            <a:off x="3080085" y="616676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78610" marR="1567180" algn="ctr">
              <a:buNone/>
            </a:pPr>
            <a:r>
              <a:rPr lang="en-US" sz="1800" b="1" dirty="0">
                <a:solidFill>
                  <a:srgbClr val="4F81B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r>
              <a:rPr lang="en-US" sz="1800" b="1" spc="-60" dirty="0">
                <a:solidFill>
                  <a:srgbClr val="4F81B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4F81B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1800" b="1" spc="-5" dirty="0">
                <a:solidFill>
                  <a:srgbClr val="4F81B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4F81B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800" b="1" spc="-35" dirty="0">
                <a:solidFill>
                  <a:srgbClr val="4F81B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4F81B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r>
              <a:rPr lang="en-US" sz="1800" b="1" spc="5" dirty="0">
                <a:solidFill>
                  <a:srgbClr val="4F81B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spc="-20" dirty="0">
                <a:solidFill>
                  <a:srgbClr val="4F81B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endParaRPr lang="en-PK" sz="28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216765-A902-A47B-8DA3-1300FF635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791" y="1286833"/>
            <a:ext cx="6752180" cy="4972453"/>
          </a:xfrm>
          <a:prstGeom prst="rect">
            <a:avLst/>
          </a:prstGeom>
        </p:spPr>
      </p:pic>
      <p:pic>
        <p:nvPicPr>
          <p:cNvPr id="3" name="Picture 2" descr="A anchor with a rope&#10;&#10;AI-generated content may be incorrect.">
            <a:extLst>
              <a:ext uri="{FF2B5EF4-FFF2-40B4-BE49-F238E27FC236}">
                <a16:creationId xmlns:a16="http://schemas.microsoft.com/office/drawing/2014/main" id="{C2826509-8ABE-2DCD-D7FD-9D5D048152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2921" y="1"/>
            <a:ext cx="1013782" cy="101378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61FB850-4190-E75E-0779-33AB2B861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Gantt Chart [8</a:t>
            </a:r>
            <a:r>
              <a:rPr lang="en-US" kern="1200" baseline="30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Semester]</a:t>
            </a:r>
          </a:p>
        </p:txBody>
      </p:sp>
    </p:spTree>
    <p:extLst>
      <p:ext uri="{BB962C8B-B14F-4D97-AF65-F5344CB8AC3E}">
        <p14:creationId xmlns:p14="http://schemas.microsoft.com/office/powerpoint/2010/main" val="135237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8600" y="3429000"/>
            <a:ext cx="9144000" cy="1233471"/>
          </a:xfrm>
          <a:solidFill>
            <a:schemeClr val="bg2"/>
          </a:solidFill>
        </p:spPr>
        <p:txBody>
          <a:bodyPr>
            <a:normAutofit fontScale="90000"/>
          </a:bodyPr>
          <a:lstStyle/>
          <a:p>
            <a:r>
              <a:rPr lang="en-US" sz="44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Skylytics</a:t>
            </a:r>
            <a:r>
              <a:rPr lang="en-US" sz="4400" dirty="0">
                <a:solidFill>
                  <a:srgbClr val="0000FF"/>
                </a:solidFill>
                <a:cs typeface="Times New Roman" panose="02020603050405020304" pitchFamily="18" charset="0"/>
              </a:rPr>
              <a:t> – An AI Powered Flight Delay 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8600" y="4833938"/>
            <a:ext cx="9144000" cy="455612"/>
          </a:xfrm>
          <a:solidFill>
            <a:schemeClr val="bg2"/>
          </a:solidFill>
        </p:spPr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FYP Proposal Defense – (</a:t>
            </a:r>
            <a:r>
              <a:rPr lang="en-US" b="1" dirty="0">
                <a:cs typeface="Times New Roman" panose="02020603050405020304" pitchFamily="18" charset="0"/>
              </a:rPr>
              <a:t>BSCS -F25-026)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142832" y="1068386"/>
            <a:ext cx="7049168" cy="81581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cs typeface="Times New Roman" panose="02020603050405020304" pitchFamily="18" charset="0"/>
              </a:rPr>
              <a:t>Thanks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142832" y="1884203"/>
            <a:ext cx="5974346" cy="1143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cs typeface="Times New Roman" panose="02020603050405020304" pitchFamily="18" charset="0"/>
              </a:rPr>
              <a:t>Please feel free to:</a:t>
            </a:r>
          </a:p>
          <a:p>
            <a:pPr lvl="1" algn="l"/>
            <a:r>
              <a:rPr lang="en-US" dirty="0">
                <a:cs typeface="Times New Roman" panose="02020603050405020304" pitchFamily="18" charset="0"/>
              </a:rPr>
              <a:t>- Ask any further details</a:t>
            </a:r>
          </a:p>
          <a:p>
            <a:pPr lvl="1" algn="l"/>
            <a:r>
              <a:rPr lang="en-US" dirty="0">
                <a:cs typeface="Times New Roman" panose="02020603050405020304" pitchFamily="18" charset="0"/>
              </a:rPr>
              <a:t>- Advise any improvements</a:t>
            </a:r>
          </a:p>
          <a:p>
            <a:pPr algn="l"/>
            <a:endParaRPr lang="en-US" dirty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4E6C17-033D-9C01-CAD7-3C2BEF922349}"/>
              </a:ext>
            </a:extLst>
          </p:cNvPr>
          <p:cNvGraphicFramePr>
            <a:graphicFrameLocks noGrp="1"/>
          </p:cNvGraphicFramePr>
          <p:nvPr/>
        </p:nvGraphicFramePr>
        <p:xfrm>
          <a:off x="3518377" y="5461017"/>
          <a:ext cx="4828674" cy="1099803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414337">
                  <a:extLst>
                    <a:ext uri="{9D8B030D-6E8A-4147-A177-3AD203B41FA5}">
                      <a16:colId xmlns:a16="http://schemas.microsoft.com/office/drawing/2014/main" val="3584039904"/>
                    </a:ext>
                  </a:extLst>
                </a:gridCol>
                <a:gridCol w="2414337">
                  <a:extLst>
                    <a:ext uri="{9D8B030D-6E8A-4147-A177-3AD203B41FA5}">
                      <a16:colId xmlns:a16="http://schemas.microsoft.com/office/drawing/2014/main" val="30996453"/>
                    </a:ext>
                  </a:extLst>
                </a:gridCol>
              </a:tblGrid>
              <a:tr h="366601">
                <a:tc>
                  <a:txBody>
                    <a:bodyPr/>
                    <a:lstStyle/>
                    <a:p>
                      <a:pPr marL="0" marR="0" indent="0" algn="r" rtl="0" eaLnBrk="1" fontAlgn="auto" latinLnBrk="0" hangingPunct="1">
                        <a:buNone/>
                      </a:pPr>
                      <a:r>
                        <a:rPr lang="en-US" sz="1800" b="0" u="none" strike="noStrike" kern="1200" baseline="0" dirty="0">
                          <a:solidFill>
                            <a:srgbClr val="0000FF"/>
                          </a:solidFill>
                          <a:effectLst/>
                        </a:rPr>
                        <a:t>03-134222-003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rgbClr val="0000FF"/>
                          </a:solidFill>
                          <a:effectLst/>
                        </a:rPr>
                        <a:t>Abdul Mutlib Ali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497450"/>
                  </a:ext>
                </a:extLst>
              </a:tr>
              <a:tr h="366601">
                <a:tc>
                  <a:txBody>
                    <a:bodyPr/>
                    <a:lstStyle/>
                    <a:p>
                      <a:pPr marL="0" marR="0" indent="0" algn="r" rtl="0" eaLnBrk="1" fontAlgn="auto" latinLnBrk="0" hangingPunct="1">
                        <a:buNone/>
                      </a:pPr>
                      <a:r>
                        <a:rPr lang="en-US" sz="1800" b="0" u="none" strike="noStrike" kern="1200" baseline="0" dirty="0">
                          <a:solidFill>
                            <a:srgbClr val="0000FF"/>
                          </a:solidFill>
                          <a:effectLst/>
                        </a:rPr>
                        <a:t>03-134222-007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rgbClr val="0000FF"/>
                          </a:solidFill>
                          <a:effectLst/>
                        </a:rPr>
                        <a:t>Abuzar Rashid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086270"/>
                  </a:ext>
                </a:extLst>
              </a:tr>
              <a:tr h="366601">
                <a:tc>
                  <a:txBody>
                    <a:bodyPr/>
                    <a:lstStyle/>
                    <a:p>
                      <a:pPr marL="0" marR="0" indent="0" algn="r" rtl="0" eaLnBrk="1" fontAlgn="auto" latinLnBrk="0" hangingPunct="1">
                        <a:buNone/>
                      </a:pPr>
                      <a:r>
                        <a:rPr lang="en-US" sz="1800" b="0" u="none" strike="noStrike" kern="1200" baseline="0" dirty="0">
                          <a:solidFill>
                            <a:srgbClr val="0000FF"/>
                          </a:solidFill>
                          <a:effectLst/>
                        </a:rPr>
                        <a:t>03-134222-039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rgbClr val="0000FF"/>
                          </a:solidFill>
                          <a:effectLst/>
                        </a:rPr>
                        <a:t>Kumail Ahmed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232528"/>
                  </a:ext>
                </a:extLst>
              </a:tr>
            </a:tbl>
          </a:graphicData>
        </a:graphic>
      </p:graphicFrame>
      <p:pic>
        <p:nvPicPr>
          <p:cNvPr id="5" name="Picture 4" descr="A anchor with a rope&#10;&#10;AI-generated content may be incorrect.">
            <a:extLst>
              <a:ext uri="{FF2B5EF4-FFF2-40B4-BE49-F238E27FC236}">
                <a16:creationId xmlns:a16="http://schemas.microsoft.com/office/drawing/2014/main" id="{7BBCE233-E48F-471E-E0E6-1FF10F5AF7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198914" cy="219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379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</TotalTime>
  <Words>1182</Words>
  <Application>Microsoft Office PowerPoint</Application>
  <PresentationFormat>Widescreen</PresentationFormat>
  <Paragraphs>153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Skylytics – An AI Powered Flight Delay Prediction System</vt:lpstr>
      <vt:lpstr>CLO Mapping </vt:lpstr>
      <vt:lpstr>Abstract</vt:lpstr>
      <vt:lpstr>Objectives</vt:lpstr>
      <vt:lpstr>Novelty</vt:lpstr>
      <vt:lpstr>Deliverable and Beneficiaries</vt:lpstr>
      <vt:lpstr>Scope</vt:lpstr>
      <vt:lpstr>Methodology – (1/4) Prototyping Phase</vt:lpstr>
      <vt:lpstr>Methodology – (2/4) Advanced Model Development Phase</vt:lpstr>
      <vt:lpstr>Methodology – (3/4) Evaluation, Explainability &amp; Deployment</vt:lpstr>
      <vt:lpstr>Methodology – (4/4) User Interfaces Development</vt:lpstr>
      <vt:lpstr>Resources and Risks (1/2)</vt:lpstr>
      <vt:lpstr>Resources and Risks (2/2)</vt:lpstr>
      <vt:lpstr>Gantt Chart [7th Semester]</vt:lpstr>
      <vt:lpstr>Gantt Chart [8th Semester]</vt:lpstr>
      <vt:lpstr>Skylytics – An AI Powered Flight Delay Prediction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Aasim Ali</dc:creator>
  <cp:lastModifiedBy>03-134222-003</cp:lastModifiedBy>
  <cp:revision>24</cp:revision>
  <dcterms:created xsi:type="dcterms:W3CDTF">2018-02-28T13:56:36Z</dcterms:created>
  <dcterms:modified xsi:type="dcterms:W3CDTF">2025-12-22T09:25:13Z</dcterms:modified>
</cp:coreProperties>
</file>